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업무상질병 산재 처리 프로세스와 본 시스템의 적용 범위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근로복지공단 업무상질병 처리 절차 중, 본 시스템은 판정위원회 상정 전 ‘1차 재해조사’ 단계를 보조한다 (판정 권한은 보존)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371600" cy="731520"/>
          </a:xfrm>
          <a:prstGeom prst="roundRect">
            <a:avLst>
              <a:gd name="adj" fmla="val 7500"/>
            </a:avLst>
          </a:prstGeom>
          <a:solidFill>
            <a:srgbClr val="C1485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업무상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재해발생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47088" y="1920240"/>
            <a:ext cx="19202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057400" y="1554480"/>
            <a:ext cx="1280160" cy="731520"/>
          </a:xfrm>
          <a:prstGeom prst="roundRect">
            <a:avLst>
              <a:gd name="adj" fmla="val 7500"/>
            </a:avLst>
          </a:prstGeom>
          <a:solidFill>
            <a:srgbClr val="02809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554480"/>
            <a:ext cx="12801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산재신청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(접수)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55848" y="1920240"/>
            <a:ext cx="19202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55448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직력 등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기초조사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38928" y="192024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03520" y="1554480"/>
            <a:ext cx="17373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1554480"/>
            <a:ext cx="1737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사실관계 조사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자료 검토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059168" y="192024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155448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의학자문 ·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특별진찰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796528" y="192024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961120" y="155448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업무상질병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판정위원회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533888" y="1920240"/>
            <a:ext cx="146304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698480" y="1554480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0" y="1554480"/>
            <a:ext cx="1005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인정/</a:t>
            </a:r>
            <a:endParaRPr lang="en-US" sz="11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불인정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56432" y="1298448"/>
            <a:ext cx="3694176" cy="1783080"/>
          </a:xfrm>
          <a:prstGeom prst="roundRect">
            <a:avLst>
              <a:gd name="adj" fmla="val 4103"/>
            </a:avLst>
          </a:prstGeom>
          <a:solidFill>
            <a:srgbClr val="E6F6F4">
              <a:alpha val="65000"/>
            </a:srgbClr>
          </a:solidFill>
          <a:ln w="25400">
            <a:solidFill>
              <a:srgbClr val="02809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456432" y="257860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시스템 적용 범위 — 1차 재해조사 보조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869680" y="1298448"/>
            <a:ext cx="1737360" cy="1783080"/>
          </a:xfrm>
          <a:prstGeom prst="roundRect">
            <a:avLst>
              <a:gd name="adj" fmla="val 4211"/>
            </a:avLst>
          </a:prstGeom>
          <a:solidFill>
            <a:srgbClr val="FFFFFF">
              <a:alpha val="0"/>
            </a:srgbClr>
          </a:solidFill>
          <a:ln w="19050">
            <a:solidFill>
              <a:srgbClr val="C1485B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869680" y="2578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14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권한 보존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C14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(AI 미개입)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65760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38221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280160" y="3803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질병분류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" y="43159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민원인 진술을 산재보험법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별표3 질병분류로 매핑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(규칙기반 키워드 매칭)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20440" y="365760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685032" y="38221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368503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160520" y="3803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판정서 검색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21608" y="43159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 4만여 건에서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부위·부담요인·직종·기간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일치도 기반 유사사례 제시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365760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565392" y="38221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656539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7040880" y="3803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사실관계 대조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01968" y="43159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직력 불일치·노출기간·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발병시점 자동 점검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타임라인 시각화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281160" y="3657600"/>
            <a:ext cx="2606040" cy="1874520"/>
          </a:xfrm>
          <a:prstGeom prst="roundRect">
            <a:avLst>
              <a:gd name="adj" fmla="val 292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9445752" y="38221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9445752" y="3822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921240" y="3803904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기반 근거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9482328" y="4315968"/>
            <a:ext cx="22037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인정·불인정을 가른 요인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빈도 분석 → 보완 자료·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사업장 조회·자문 의뢰 제시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5303520" y="2944368"/>
            <a:ext cx="0" cy="603504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9" name="Text 47"/>
          <p:cNvSpPr/>
          <p:nvPr/>
        </p:nvSpPr>
        <p:spPr>
          <a:xfrm>
            <a:off x="640080" y="56967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0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산출물: 판정위 상정용 검토 보고서 · 사업장 사실조회 공문(초안) · 자문의사 소견 의뢰 자료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시스템 내부 처리 알고리즘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규칙기반 RAG(검색·추출·요약) 파이프라인 — 학습 없이 공공데이터를 근거로 자료 검토를 보조하며, 단계별 고도화 경로를 설계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(담당자 보유 자료)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AF4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민원인 진술 /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재해 발생 경위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AF4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31720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전산 직력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(4대보험 이력)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2011680" cy="566928"/>
          </a:xfrm>
          <a:prstGeom prst="roundRect">
            <a:avLst>
              <a:gd name="adj" fmla="val 9677"/>
            </a:avLst>
          </a:prstGeom>
          <a:solidFill>
            <a:srgbClr val="EAF4F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201168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의료기록 /</a:t>
            </a:r>
            <a:endParaRPr lang="en-US" sz="10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진단 소견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178308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 w="12700">
            <a:solidFill>
              <a:srgbClr val="0160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874520"/>
            <a:ext cx="1627632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분류 매핑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880360" y="2313432"/>
            <a:ext cx="1627632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별표3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질병분류 인식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12564" y="2240280"/>
            <a:ext cx="137160" cy="0"/>
          </a:xfrm>
          <a:prstGeom prst="line">
            <a:avLst/>
          </a:prstGeom>
          <a:noFill/>
          <a:ln w="19050">
            <a:solidFill>
              <a:srgbClr val="01606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54296" y="178308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 w="12700">
            <a:solidFill>
              <a:srgbClr val="0160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54296" y="1874520"/>
            <a:ext cx="1627632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사전 예측</a:t>
            </a:r>
            <a:endParaRPr lang="en-US" sz="11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54296" y="2313432"/>
            <a:ext cx="1627632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자문의사 판단 전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 기록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286500" y="2240280"/>
            <a:ext cx="137160" cy="0"/>
          </a:xfrm>
          <a:prstGeom prst="line">
            <a:avLst/>
          </a:prstGeom>
          <a:noFill/>
          <a:ln w="19050">
            <a:solidFill>
              <a:srgbClr val="01606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28232" y="178308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 w="12700">
            <a:solidFill>
              <a:srgbClr val="0160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1874520"/>
            <a:ext cx="1627632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유사 판정서</a:t>
            </a:r>
            <a:endParaRPr lang="en-US" sz="11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8232" y="2313432"/>
            <a:ext cx="1627632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공공데이터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요소 일치도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60436" y="2240280"/>
            <a:ext cx="137160" cy="0"/>
          </a:xfrm>
          <a:prstGeom prst="line">
            <a:avLst/>
          </a:prstGeom>
          <a:noFill/>
          <a:ln w="19050">
            <a:solidFill>
              <a:srgbClr val="01606C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02168" y="178308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00A896"/>
          </a:solidFill>
          <a:ln w="12700">
            <a:solidFill>
              <a:srgbClr val="01606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2168" y="1874520"/>
            <a:ext cx="1627632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사실관계</a:t>
            </a:r>
            <a:endParaRPr lang="en-US" sz="115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02168" y="2313432"/>
            <a:ext cx="1627632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불일치·공백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점검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834372" y="2240280"/>
            <a:ext cx="137160" cy="0"/>
          </a:xfrm>
          <a:prstGeom prst="line">
            <a:avLst/>
          </a:prstGeom>
          <a:noFill/>
          <a:ln w="19050">
            <a:solidFill>
              <a:srgbClr val="01606C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976104" y="1783080"/>
            <a:ext cx="1627632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 w="12700">
            <a:solidFill>
              <a:srgbClr val="01606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76104" y="1874520"/>
            <a:ext cx="1627632" cy="45720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근거 산출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976104" y="2313432"/>
            <a:ext cx="1627632" cy="329184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인정요인 빈도</a:t>
            </a:r>
            <a:endParaRPr lang="en-US" sz="9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900" dirty="0">
                <a:solidFill>
                  <a:srgbClr val="E6FF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보완 자료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2615184"/>
            <a:ext cx="228600" cy="-3749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880360" y="3063240"/>
            <a:ext cx="8723376" cy="502920"/>
          </a:xfrm>
          <a:prstGeom prst="roundRect">
            <a:avLst>
              <a:gd name="adj" fmla="val 9091"/>
            </a:avLst>
          </a:prstGeom>
          <a:solidFill>
            <a:srgbClr val="FFF4D6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3063240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근거  </a:t>
            </a:r>
            <a:pPr algn="l" indent="0" marL="0">
              <a:buNone/>
            </a:pPr>
            <a:r>
              <a:rPr lang="en-US" sz="1000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근로복지공단 질병판정서 공공데이터(약 4만 건) · 산재보험법 시행령 별표3 · 실시간 조회(응답코드·건수·시각 기록)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94176" y="2697480"/>
            <a:ext cx="0" cy="365760"/>
          </a:xfrm>
          <a:prstGeom prst="line">
            <a:avLst/>
          </a:prstGeom>
          <a:noFill/>
          <a:ln w="9525">
            <a:solidFill>
              <a:srgbClr val="D98E04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5468112" y="2697480"/>
            <a:ext cx="0" cy="365760"/>
          </a:xfrm>
          <a:prstGeom prst="line">
            <a:avLst/>
          </a:prstGeom>
          <a:noFill/>
          <a:ln w="9525">
            <a:solidFill>
              <a:srgbClr val="D98E0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242048" y="2697480"/>
            <a:ext cx="0" cy="365760"/>
          </a:xfrm>
          <a:prstGeom prst="line">
            <a:avLst/>
          </a:prstGeom>
          <a:noFill/>
          <a:ln w="9525">
            <a:solidFill>
              <a:srgbClr val="D98E04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9015984" y="2697480"/>
            <a:ext cx="0" cy="365760"/>
          </a:xfrm>
          <a:prstGeom prst="line">
            <a:avLst/>
          </a:prstGeom>
          <a:noFill/>
          <a:ln w="9525">
            <a:solidFill>
              <a:srgbClr val="D98E04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0789920" y="2697480"/>
            <a:ext cx="0" cy="365760"/>
          </a:xfrm>
          <a:prstGeom prst="line">
            <a:avLst/>
          </a:prstGeom>
          <a:noFill/>
          <a:ln w="9525">
            <a:solidFill>
              <a:srgbClr val="D98E04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548640" y="39136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산출물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2519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4251960"/>
            <a:ext cx="2606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판정위 상정용 검토 보고서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91840" y="4251960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4251960"/>
            <a:ext cx="2606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 판정서 Top 3 + 인정·불인정 근거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4818888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818888"/>
            <a:ext cx="2606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사업장 사실조회 공문 (초안)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91840" y="4818888"/>
            <a:ext cx="2606040" cy="4572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91840" y="4818888"/>
            <a:ext cx="26060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자문의사 소견 의뢰 자료 · 처리기한 관리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766560" y="3913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단계적 고도화 로드맵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766560" y="4306824"/>
            <a:ext cx="292608" cy="29260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9" name="Text 47"/>
          <p:cNvSpPr/>
          <p:nvPr/>
        </p:nvSpPr>
        <p:spPr>
          <a:xfrm>
            <a:off x="676656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178040" y="425196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· 규칙기반  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매칭 / 요소 일치도. 투명·경량·외부 의존성 없음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912864" y="4599432"/>
            <a:ext cx="0" cy="3108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6766560" y="4910328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3" name="Text 51"/>
          <p:cNvSpPr/>
          <p:nvPr/>
        </p:nvSpPr>
        <p:spPr>
          <a:xfrm>
            <a:off x="6766560" y="4910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178040" y="485546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· 머신러닝  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랜덤포레스트 등 분류기 + 임베딩 의미 유사도 (폐쇄망 내 로컬 실행 가능)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12864" y="5202936"/>
            <a:ext cx="0" cy="31089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766560" y="5513832"/>
            <a:ext cx="292608" cy="292608"/>
          </a:xfrm>
          <a:prstGeom prst="ellipse">
            <a:avLst/>
          </a:prstGeom>
          <a:solidFill>
            <a:srgbClr val="5B8A72"/>
          </a:solidFill>
          <a:ln/>
        </p:spPr>
      </p:sp>
      <p:sp>
        <p:nvSpPr>
          <p:cNvPr id="57" name="Text 55"/>
          <p:cNvSpPr/>
          <p:nvPr/>
        </p:nvSpPr>
        <p:spPr>
          <a:xfrm>
            <a:off x="6766560" y="5513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178040" y="545896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고도화 · LLM  </a:t>
            </a:r>
            <a:pPr algn="l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자유서술 문맥 이해 · 검토의견 초안 (온프레미스). 판정은 여전히 미수행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48640" y="6355080"/>
            <a:ext cx="11064240" cy="384048"/>
          </a:xfrm>
          <a:prstGeom prst="roundRect">
            <a:avLst>
              <a:gd name="adj" fmla="val 11905"/>
            </a:avLst>
          </a:prstGeom>
          <a:solidFill>
            <a:srgbClr val="F0FBF9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63550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160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  </a:t>
            </a:r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AI는 인정·불인정을 판정하지 않는다. 모든 출력은 공공데이터 원문을 근거로 제시되며, 최종 판단은 담당자·판정위원회의 권한이다.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골든타임 시스템 흐름도</dc:title>
  <dc:subject>PptxGenJS Presentation</dc:subject>
  <dc:creator>골든타임</dc:creator>
  <cp:lastModifiedBy>골든타임</cp:lastModifiedBy>
  <cp:revision>1</cp:revision>
  <dcterms:created xsi:type="dcterms:W3CDTF">2026-06-11T00:14:36Z</dcterms:created>
  <dcterms:modified xsi:type="dcterms:W3CDTF">2026-06-11T00:14:36Z</dcterms:modified>
</cp:coreProperties>
</file>